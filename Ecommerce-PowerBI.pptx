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80" r:id="rId9"/>
    <p:sldId id="576"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varScale="1">
        <p:scale>
          <a:sx n="48" d="100"/>
          <a:sy n="48" d="100"/>
        </p:scale>
        <p:origin x="77" y="950"/>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5856" y="1202574"/>
            <a:ext cx="4746772" cy="2396200"/>
          </a:xfrm>
          <a:prstGeom prst="rect">
            <a:avLst/>
          </a:prstGeom>
        </p:spPr>
        <p:txBody>
          <a:bodyPr vert="horz" lIns="91440" tIns="45720" rIns="91440" bIns="45720" rtlCol="0" anchor="b">
            <a:normAutofit fontScale="85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200" b="1" dirty="0">
                <a:latin typeface="Arial Narrow" panose="020B0606020202030204" pitchFamily="34" charset="0"/>
              </a:rPr>
              <a:t>E-Commerce Sales Dashboard using Power BI</a:t>
            </a:r>
            <a:endParaRPr lang="en-US" sz="5200" b="1" kern="1200" dirty="0">
              <a:latin typeface="Arial Narrow" panose="020B0606020202030204" pitchFamily="34" charset="0"/>
            </a:endParaRPr>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7" y="3739889"/>
            <a:ext cx="4166512"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Divyanshi Singh</a:t>
            </a:r>
          </a:p>
          <a:p>
            <a:pPr algn="l">
              <a:spcAft>
                <a:spcPts val="600"/>
              </a:spcAft>
            </a:pPr>
            <a:r>
              <a:rPr lang="en-US" sz="1600" b="1" cap="all" dirty="0"/>
              <a:t>College Name: JECRC University</a:t>
            </a:r>
          </a:p>
          <a:p>
            <a:pPr algn="l">
              <a:spcAft>
                <a:spcPts val="600"/>
              </a:spcAft>
            </a:pPr>
            <a:r>
              <a:rPr lang="en-US" sz="1600" b="1" cap="all" dirty="0"/>
              <a:t>Department: </a:t>
            </a:r>
            <a:r>
              <a:rPr lang="en-US" sz="1600" b="1" cap="all" dirty="0" err="1"/>
              <a:t>B.Tech</a:t>
            </a:r>
            <a:r>
              <a:rPr lang="en-US" sz="1600" b="1" cap="all" dirty="0"/>
              <a:t> - CSE</a:t>
            </a:r>
          </a:p>
          <a:p>
            <a:pPr algn="l">
              <a:spcAft>
                <a:spcPts val="600"/>
              </a:spcAft>
            </a:pPr>
            <a:r>
              <a:rPr lang="en-US" sz="1600" b="1" cap="all" dirty="0"/>
              <a:t>Email ID: divyanshisingh0d@gmail.com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a:extLst>
              <a:ext uri="{FF2B5EF4-FFF2-40B4-BE49-F238E27FC236}">
                <a16:creationId xmlns:a16="http://schemas.microsoft.com/office/drawing/2014/main" id="{E01A13C8-BFCD-084B-C2B0-7D11AF7358F7}"/>
              </a:ext>
            </a:extLst>
          </p:cNvPr>
          <p:cNvPicPr>
            <a:picLocks noChangeAspect="1"/>
          </p:cNvPicPr>
          <p:nvPr/>
        </p:nvPicPr>
        <p:blipFill>
          <a:blip r:embed="rId5">
            <a:extLst>
              <a:ext uri="{28A0092B-C50C-407E-A947-70E740481C1C}">
                <a14:useLocalDpi xmlns:a14="http://schemas.microsoft.com/office/drawing/2010/main" val="0"/>
              </a:ext>
            </a:extLst>
          </a:blip>
          <a:srcRect b="13756"/>
          <a:stretch>
            <a:fillRect/>
          </a:stretch>
        </p:blipFill>
        <p:spPr>
          <a:xfrm>
            <a:off x="6411685" y="1012437"/>
            <a:ext cx="4167248" cy="4484785"/>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a:t>
            </a:r>
            <a:endParaRPr lang="en-US" sz="2200" dirty="0">
              <a:latin typeface="Arial"/>
              <a:cs typeface="Arial"/>
            </a:endParaRP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a:t>
            </a: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buNone/>
            </a:pPr>
            <a:r>
              <a:rPr lang="en-US" sz="1800" dirty="0">
                <a:latin typeface="Franklin Gothic Book"/>
              </a:rPr>
              <a:t>E-commerce platforms such as Amazon generate large volumes of product and customer review data. </a:t>
            </a:r>
          </a:p>
          <a:p>
            <a:pPr marL="0" indent="0">
              <a:buNone/>
            </a:pPr>
            <a:r>
              <a:rPr lang="en-US" sz="1800" dirty="0">
                <a:latin typeface="Franklin Gothic Book"/>
              </a:rPr>
              <a:t>Traditional analysis methods make it difficult to quickly understand product performance, pricing strategies, and customer feedback trends.</a:t>
            </a:r>
          </a:p>
          <a:p>
            <a:pPr marL="0" indent="0">
              <a:buNone/>
            </a:pPr>
            <a:r>
              <a:rPr lang="en-US" sz="1800" dirty="0">
                <a:latin typeface="Franklin Gothic Book"/>
              </a:rPr>
              <a:t>Businesses require a system that can efficiently analyze product data, reviews, ratings, and discount patterns to support better decision-making.</a:t>
            </a:r>
          </a:p>
          <a:p>
            <a:pPr marL="0" indent="0">
              <a:buNone/>
            </a:pPr>
            <a:r>
              <a:rPr lang="en-US" sz="1800" dirty="0">
                <a:latin typeface="Franklin Gothic Book"/>
              </a:rPr>
              <a:t>Therefore, there is a need for an interactive dashboard that visualizes important metrics such as product count, reviews, ratings, and pricing trends.</a:t>
            </a:r>
            <a:endParaRPr lang="en-US" sz="1800" dirty="0"/>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4" y="1304306"/>
            <a:ext cx="11607166" cy="4251960"/>
          </a:xfrm>
        </p:spPr>
        <p:txBody>
          <a:bodyPr vert="horz" lIns="91440" tIns="45720" rIns="91440" bIns="45720" rtlCol="0" anchor="t">
            <a:noAutofit/>
          </a:bodyPr>
          <a:lstStyle/>
          <a:p>
            <a:pPr marL="0" indent="0">
              <a:spcBef>
                <a:spcPct val="20000"/>
              </a:spcBef>
              <a:spcAft>
                <a:spcPts val="600"/>
              </a:spcAft>
              <a:buNone/>
            </a:pPr>
            <a:r>
              <a:rPr lang="en-US" sz="1800" dirty="0"/>
              <a:t>The proposed solution is to build an interactive E-Commerce Sales Dashboard using Power BI.</a:t>
            </a:r>
          </a:p>
          <a:p>
            <a:pPr marL="0" indent="0">
              <a:spcBef>
                <a:spcPct val="20000"/>
              </a:spcBef>
              <a:spcAft>
                <a:spcPts val="600"/>
              </a:spcAft>
              <a:buNone/>
            </a:pPr>
            <a:r>
              <a:rPr lang="en-US" sz="1800" dirty="0"/>
              <a:t>The dashboard analyzes product data from an Amazon dataset and visualizes key performance indicators such as:</a:t>
            </a:r>
          </a:p>
          <a:p>
            <a:pPr marL="0" indent="0">
              <a:spcBef>
                <a:spcPct val="20000"/>
              </a:spcBef>
              <a:spcAft>
                <a:spcPts val="600"/>
              </a:spcAft>
              <a:buNone/>
            </a:pPr>
            <a:r>
              <a:rPr lang="en-US" sz="1800" dirty="0"/>
              <a:t>• Total number of products</a:t>
            </a:r>
          </a:p>
          <a:p>
            <a:pPr marL="0" indent="0">
              <a:spcBef>
                <a:spcPct val="20000"/>
              </a:spcBef>
              <a:spcAft>
                <a:spcPts val="600"/>
              </a:spcAft>
              <a:buNone/>
            </a:pPr>
            <a:r>
              <a:rPr lang="en-US" sz="1800" dirty="0"/>
              <a:t>• Average product rating</a:t>
            </a:r>
          </a:p>
          <a:p>
            <a:pPr marL="0" indent="0">
              <a:spcBef>
                <a:spcPct val="20000"/>
              </a:spcBef>
              <a:spcAft>
                <a:spcPts val="600"/>
              </a:spcAft>
              <a:buNone/>
            </a:pPr>
            <a:r>
              <a:rPr lang="en-US" sz="1800" dirty="0"/>
              <a:t>• Total customer reviews</a:t>
            </a:r>
          </a:p>
          <a:p>
            <a:pPr marL="0" indent="0">
              <a:spcBef>
                <a:spcPct val="20000"/>
              </a:spcBef>
              <a:spcAft>
                <a:spcPts val="600"/>
              </a:spcAft>
              <a:buNone/>
            </a:pPr>
            <a:r>
              <a:rPr lang="en-US" sz="1800" dirty="0"/>
              <a:t>• Average discount percentage</a:t>
            </a:r>
          </a:p>
          <a:p>
            <a:pPr marL="0" indent="0">
              <a:spcBef>
                <a:spcPct val="20000"/>
              </a:spcBef>
              <a:spcAft>
                <a:spcPts val="600"/>
              </a:spcAft>
              <a:buNone/>
            </a:pPr>
            <a:r>
              <a:rPr lang="en-US" sz="1800" dirty="0"/>
              <a:t>The dashboard also provides visual insights through charts like:</a:t>
            </a:r>
          </a:p>
          <a:p>
            <a:pPr marL="0" indent="0">
              <a:spcBef>
                <a:spcPct val="20000"/>
              </a:spcBef>
              <a:spcAft>
                <a:spcPts val="600"/>
              </a:spcAft>
              <a:buNone/>
            </a:pPr>
            <a:r>
              <a:rPr lang="en-US" sz="1800" dirty="0"/>
              <a:t>• Products by Category</a:t>
            </a:r>
          </a:p>
          <a:p>
            <a:pPr marL="0" indent="0">
              <a:spcBef>
                <a:spcPct val="20000"/>
              </a:spcBef>
              <a:spcAft>
                <a:spcPts val="600"/>
              </a:spcAft>
              <a:buNone/>
            </a:pPr>
            <a:r>
              <a:rPr lang="en-US" sz="1800" dirty="0"/>
              <a:t>• Top Products by Reviews</a:t>
            </a:r>
          </a:p>
          <a:p>
            <a:pPr marL="0" indent="0">
              <a:spcBef>
                <a:spcPct val="20000"/>
              </a:spcBef>
              <a:spcAft>
                <a:spcPts val="600"/>
              </a:spcAft>
              <a:buNone/>
            </a:pPr>
            <a:r>
              <a:rPr lang="en-US" sz="1800" dirty="0"/>
              <a:t>• Price Comparison</a:t>
            </a:r>
          </a:p>
          <a:p>
            <a:pPr marL="0" indent="0">
              <a:spcBef>
                <a:spcPct val="20000"/>
              </a:spcBef>
              <a:spcAft>
                <a:spcPts val="600"/>
              </a:spcAft>
              <a:buNone/>
            </a:pPr>
            <a:r>
              <a:rPr lang="en-US" sz="1800" dirty="0"/>
              <a:t>• Rating Analysis</a:t>
            </a:r>
          </a:p>
          <a:p>
            <a:pPr marL="0" indent="0">
              <a:spcBef>
                <a:spcPct val="20000"/>
              </a:spcBef>
              <a:spcAft>
                <a:spcPts val="600"/>
              </a:spcAft>
              <a:buNone/>
            </a:pPr>
            <a:r>
              <a:rPr lang="en-US" sz="1800" dirty="0"/>
              <a:t>• Discount vs Rating relationship</a:t>
            </a:r>
          </a:p>
          <a:p>
            <a:pPr marL="0" indent="0">
              <a:spcBef>
                <a:spcPct val="20000"/>
              </a:spcBef>
              <a:spcAft>
                <a:spcPts val="600"/>
              </a:spcAft>
              <a:buNone/>
            </a:pPr>
            <a:r>
              <a:rPr lang="en-US" sz="1800" dirty="0"/>
              <a:t>The solution enables businesses to quickly identify product performance trends and make data-driven decisions.</a:t>
            </a:r>
            <a:endParaRPr lang="en-GB" sz="1800" dirty="0"/>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8" y="1356360"/>
            <a:ext cx="11005911" cy="4175760"/>
          </a:xfrm>
        </p:spPr>
        <p:txBody>
          <a:bodyPr vert="horz" lIns="91440" tIns="45720" rIns="91440" bIns="45720" rtlCol="0">
            <a:noAutofit/>
          </a:bodyPr>
          <a:lstStyle/>
          <a:p>
            <a:pPr marL="0" indent="0">
              <a:spcBef>
                <a:spcPct val="20000"/>
              </a:spcBef>
              <a:spcAft>
                <a:spcPts val="600"/>
              </a:spcAft>
              <a:buNone/>
            </a:pPr>
            <a:r>
              <a:rPr lang="en-GB" sz="1800" dirty="0"/>
              <a:t>Technology Used:</a:t>
            </a:r>
          </a:p>
          <a:p>
            <a:pPr marL="0" indent="0">
              <a:spcBef>
                <a:spcPct val="20000"/>
              </a:spcBef>
              <a:spcAft>
                <a:spcPts val="600"/>
              </a:spcAft>
              <a:buNone/>
            </a:pPr>
            <a:r>
              <a:rPr lang="en-GB" sz="1800" dirty="0"/>
              <a:t>• Microsoft Power BI Desktop</a:t>
            </a:r>
          </a:p>
          <a:p>
            <a:pPr marL="0" indent="0">
              <a:spcBef>
                <a:spcPct val="20000"/>
              </a:spcBef>
              <a:spcAft>
                <a:spcPts val="600"/>
              </a:spcAft>
              <a:buNone/>
            </a:pPr>
            <a:r>
              <a:rPr lang="en-GB" sz="1800" dirty="0"/>
              <a:t>• Data Analysis Expressions (DAX)</a:t>
            </a:r>
          </a:p>
          <a:p>
            <a:pPr marL="0" indent="0">
              <a:spcBef>
                <a:spcPct val="20000"/>
              </a:spcBef>
              <a:spcAft>
                <a:spcPts val="600"/>
              </a:spcAft>
              <a:buNone/>
            </a:pPr>
            <a:r>
              <a:rPr lang="en-GB" sz="1800" dirty="0"/>
              <a:t>• Power Query for Data Cleaning</a:t>
            </a:r>
          </a:p>
          <a:p>
            <a:pPr marL="0" indent="0">
              <a:spcBef>
                <a:spcPct val="20000"/>
              </a:spcBef>
              <a:spcAft>
                <a:spcPts val="600"/>
              </a:spcAft>
              <a:buNone/>
            </a:pPr>
            <a:r>
              <a:rPr lang="en-GB" sz="1800" dirty="0"/>
              <a:t>Dataset:</a:t>
            </a:r>
          </a:p>
          <a:p>
            <a:pPr marL="0" indent="0">
              <a:spcBef>
                <a:spcPct val="20000"/>
              </a:spcBef>
              <a:spcAft>
                <a:spcPts val="600"/>
              </a:spcAft>
              <a:buNone/>
            </a:pPr>
            <a:r>
              <a:rPr lang="en-GB" sz="1800" dirty="0"/>
              <a:t>Amazon E-commerce product dataset</a:t>
            </a:r>
          </a:p>
          <a:p>
            <a:pPr marL="0" indent="0">
              <a:spcBef>
                <a:spcPct val="20000"/>
              </a:spcBef>
              <a:spcAft>
                <a:spcPts val="600"/>
              </a:spcAft>
              <a:buNone/>
            </a:pPr>
            <a:r>
              <a:rPr lang="en-GB" sz="1800" dirty="0"/>
              <a:t>Development Steps:</a:t>
            </a:r>
          </a:p>
          <a:p>
            <a:pPr marL="0" indent="0">
              <a:spcBef>
                <a:spcPct val="20000"/>
              </a:spcBef>
              <a:spcAft>
                <a:spcPts val="600"/>
              </a:spcAft>
              <a:buNone/>
            </a:pPr>
            <a:r>
              <a:rPr lang="en-GB" sz="1800" dirty="0"/>
              <a:t>1. Data Loading</a:t>
            </a:r>
          </a:p>
          <a:p>
            <a:pPr marL="0" indent="0">
              <a:spcBef>
                <a:spcPct val="20000"/>
              </a:spcBef>
              <a:spcAft>
                <a:spcPts val="600"/>
              </a:spcAft>
              <a:buNone/>
            </a:pPr>
            <a:r>
              <a:rPr lang="en-GB" sz="1800" dirty="0"/>
              <a:t>2. Data Cleaning (removing errors and fixing data types)</a:t>
            </a:r>
          </a:p>
          <a:p>
            <a:pPr marL="0" indent="0">
              <a:spcBef>
                <a:spcPct val="20000"/>
              </a:spcBef>
              <a:spcAft>
                <a:spcPts val="600"/>
              </a:spcAft>
              <a:buNone/>
            </a:pPr>
            <a:r>
              <a:rPr lang="en-GB" sz="1800" dirty="0"/>
              <a:t>3. Data </a:t>
            </a:r>
            <a:r>
              <a:rPr lang="en-GB" sz="1800" dirty="0" err="1"/>
              <a:t>Modeling</a:t>
            </a:r>
            <a:endParaRPr lang="en-GB" sz="1800" dirty="0"/>
          </a:p>
          <a:p>
            <a:pPr marL="0" indent="0">
              <a:spcBef>
                <a:spcPct val="20000"/>
              </a:spcBef>
              <a:spcAft>
                <a:spcPts val="600"/>
              </a:spcAft>
              <a:buNone/>
            </a:pPr>
            <a:r>
              <a:rPr lang="en-GB" sz="1800" dirty="0"/>
              <a:t>4. Creating DAX Measures</a:t>
            </a:r>
          </a:p>
          <a:p>
            <a:pPr marL="0" indent="0">
              <a:spcBef>
                <a:spcPct val="20000"/>
              </a:spcBef>
              <a:spcAft>
                <a:spcPts val="600"/>
              </a:spcAft>
              <a:buNone/>
            </a:pPr>
            <a:r>
              <a:rPr lang="en-GB" sz="1800" dirty="0"/>
              <a:t>5. Creating Interactive Visualizations</a:t>
            </a:r>
          </a:p>
          <a:p>
            <a:pPr marL="0" indent="0">
              <a:spcBef>
                <a:spcPct val="20000"/>
              </a:spcBef>
              <a:spcAft>
                <a:spcPts val="600"/>
              </a:spcAft>
              <a:buNone/>
            </a:pPr>
            <a:r>
              <a:rPr lang="en-GB" sz="1800" dirty="0"/>
              <a:t>6. Dashboard Design</a:t>
            </a: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66700" y="1572196"/>
            <a:ext cx="10515600" cy="4251960"/>
          </a:xfrm>
        </p:spPr>
        <p:txBody>
          <a:bodyPr vert="horz" lIns="91440" tIns="45720" rIns="91440" bIns="45720" rtlCol="0">
            <a:noAutofit/>
          </a:bodyPr>
          <a:lstStyle/>
          <a:p>
            <a:pPr marL="0" indent="0">
              <a:spcBef>
                <a:spcPct val="20000"/>
              </a:spcBef>
              <a:spcAft>
                <a:spcPts val="600"/>
              </a:spcAft>
              <a:buNone/>
            </a:pPr>
            <a:r>
              <a:rPr lang="en-US" sz="1800" dirty="0"/>
              <a:t>Data Processing Steps:</a:t>
            </a:r>
          </a:p>
          <a:p>
            <a:pPr marL="0" indent="0">
              <a:spcBef>
                <a:spcPct val="20000"/>
              </a:spcBef>
              <a:spcAft>
                <a:spcPts val="600"/>
              </a:spcAft>
              <a:buNone/>
            </a:pPr>
            <a:r>
              <a:rPr lang="en-US" sz="1800" dirty="0"/>
              <a:t>1. Data Cleaning</a:t>
            </a:r>
          </a:p>
          <a:p>
            <a:pPr marL="0" indent="0">
              <a:spcBef>
                <a:spcPct val="20000"/>
              </a:spcBef>
              <a:spcAft>
                <a:spcPts val="600"/>
              </a:spcAft>
              <a:buNone/>
            </a:pPr>
            <a:r>
              <a:rPr lang="en-US" sz="1800" dirty="0"/>
              <a:t>   • Removed error rows</a:t>
            </a:r>
          </a:p>
          <a:p>
            <a:pPr marL="0" indent="0">
              <a:spcBef>
                <a:spcPct val="20000"/>
              </a:spcBef>
              <a:spcAft>
                <a:spcPts val="600"/>
              </a:spcAft>
              <a:buNone/>
            </a:pPr>
            <a:r>
              <a:rPr lang="en-US" sz="1800" dirty="0"/>
              <a:t>   • Corrected data types</a:t>
            </a:r>
          </a:p>
          <a:p>
            <a:pPr marL="0" indent="0">
              <a:spcBef>
                <a:spcPct val="20000"/>
              </a:spcBef>
              <a:spcAft>
                <a:spcPts val="600"/>
              </a:spcAft>
              <a:buNone/>
            </a:pPr>
            <a:r>
              <a:rPr lang="en-US" sz="1800" dirty="0"/>
              <a:t>2. Feature Engineering</a:t>
            </a:r>
          </a:p>
          <a:p>
            <a:pPr marL="0" indent="0">
              <a:spcBef>
                <a:spcPct val="20000"/>
              </a:spcBef>
              <a:spcAft>
                <a:spcPts val="600"/>
              </a:spcAft>
              <a:buNone/>
            </a:pPr>
            <a:r>
              <a:rPr lang="en-US" sz="1800" dirty="0"/>
              <a:t>   Created calculated column:</a:t>
            </a:r>
          </a:p>
          <a:p>
            <a:pPr marL="0" indent="0">
              <a:spcBef>
                <a:spcPct val="20000"/>
              </a:spcBef>
              <a:spcAft>
                <a:spcPts val="600"/>
              </a:spcAft>
              <a:buNone/>
            </a:pPr>
            <a:r>
              <a:rPr lang="en-US" sz="1800" dirty="0"/>
              <a:t>   Discount Amount = Actual Price − Discounted Price</a:t>
            </a:r>
          </a:p>
          <a:p>
            <a:pPr marL="0" indent="0">
              <a:spcBef>
                <a:spcPct val="20000"/>
              </a:spcBef>
              <a:spcAft>
                <a:spcPts val="600"/>
              </a:spcAft>
              <a:buNone/>
            </a:pPr>
            <a:r>
              <a:rPr lang="en-US" sz="1800" dirty="0"/>
              <a:t>3. KPI Measures Created Using DAX</a:t>
            </a:r>
          </a:p>
          <a:p>
            <a:pPr marL="0" indent="0">
              <a:spcBef>
                <a:spcPct val="20000"/>
              </a:spcBef>
              <a:spcAft>
                <a:spcPts val="600"/>
              </a:spcAft>
              <a:buNone/>
            </a:pPr>
            <a:r>
              <a:rPr lang="en-US" sz="1800" dirty="0"/>
              <a:t>   • Total Products</a:t>
            </a:r>
          </a:p>
          <a:p>
            <a:pPr marL="0" indent="0">
              <a:spcBef>
                <a:spcPct val="20000"/>
              </a:spcBef>
              <a:spcAft>
                <a:spcPts val="600"/>
              </a:spcAft>
              <a:buNone/>
            </a:pPr>
            <a:r>
              <a:rPr lang="en-US" sz="1800" dirty="0"/>
              <a:t>   • Average Rating</a:t>
            </a:r>
          </a:p>
          <a:p>
            <a:pPr marL="0" indent="0">
              <a:spcBef>
                <a:spcPct val="20000"/>
              </a:spcBef>
              <a:spcAft>
                <a:spcPts val="600"/>
              </a:spcAft>
              <a:buNone/>
            </a:pPr>
            <a:r>
              <a:rPr lang="en-US" sz="1800" dirty="0"/>
              <a:t>   • Total Reviews</a:t>
            </a:r>
          </a:p>
          <a:p>
            <a:pPr marL="0" indent="0">
              <a:spcBef>
                <a:spcPct val="20000"/>
              </a:spcBef>
              <a:spcAft>
                <a:spcPts val="600"/>
              </a:spcAft>
              <a:buNone/>
            </a:pPr>
            <a:r>
              <a:rPr lang="en-US" sz="1800" dirty="0"/>
              <a:t>   • Average Discount %</a:t>
            </a:r>
          </a:p>
          <a:p>
            <a:pPr marL="0" indent="0">
              <a:spcBef>
                <a:spcPct val="20000"/>
              </a:spcBef>
              <a:spcAft>
                <a:spcPts val="600"/>
              </a:spcAft>
              <a:buNone/>
            </a:pPr>
            <a:endParaRPr lang="en-GB" sz="18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990073-7754-2FD2-6F24-272616DCAAF3}"/>
              </a:ext>
            </a:extLst>
          </p:cNvPr>
          <p:cNvSpPr txBox="1"/>
          <p:nvPr/>
        </p:nvSpPr>
        <p:spPr>
          <a:xfrm>
            <a:off x="335666" y="856527"/>
            <a:ext cx="8750461" cy="3102388"/>
          </a:xfrm>
          <a:prstGeom prst="rect">
            <a:avLst/>
          </a:prstGeom>
          <a:noFill/>
        </p:spPr>
        <p:txBody>
          <a:bodyPr wrap="square" rtlCol="0">
            <a:spAutoFit/>
          </a:bodyPr>
          <a:lstStyle/>
          <a:p>
            <a:pPr>
              <a:spcBef>
                <a:spcPct val="20000"/>
              </a:spcBef>
              <a:spcAft>
                <a:spcPts val="600"/>
              </a:spcAft>
            </a:pPr>
            <a:r>
              <a:rPr lang="en-US" dirty="0"/>
              <a:t>4. Visualization Development</a:t>
            </a:r>
          </a:p>
          <a:p>
            <a:pPr>
              <a:spcBef>
                <a:spcPct val="20000"/>
              </a:spcBef>
              <a:spcAft>
                <a:spcPts val="600"/>
              </a:spcAft>
            </a:pPr>
            <a:r>
              <a:rPr lang="en-US" dirty="0"/>
              <a:t>   • Bar charts</a:t>
            </a:r>
          </a:p>
          <a:p>
            <a:pPr>
              <a:spcBef>
                <a:spcPct val="20000"/>
              </a:spcBef>
              <a:spcAft>
                <a:spcPts val="600"/>
              </a:spcAft>
            </a:pPr>
            <a:r>
              <a:rPr lang="en-US" dirty="0"/>
              <a:t>   • Column charts</a:t>
            </a:r>
          </a:p>
          <a:p>
            <a:pPr>
              <a:spcBef>
                <a:spcPct val="20000"/>
              </a:spcBef>
              <a:spcAft>
                <a:spcPts val="600"/>
              </a:spcAft>
            </a:pPr>
            <a:r>
              <a:rPr lang="en-US" dirty="0"/>
              <a:t>   • Scatter charts</a:t>
            </a:r>
          </a:p>
          <a:p>
            <a:pPr>
              <a:spcBef>
                <a:spcPct val="20000"/>
              </a:spcBef>
              <a:spcAft>
                <a:spcPts val="600"/>
              </a:spcAft>
            </a:pPr>
            <a:r>
              <a:rPr lang="en-US" dirty="0"/>
              <a:t>   • KPI cards</a:t>
            </a:r>
          </a:p>
          <a:p>
            <a:pPr>
              <a:spcBef>
                <a:spcPct val="20000"/>
              </a:spcBef>
              <a:spcAft>
                <a:spcPts val="600"/>
              </a:spcAft>
            </a:pPr>
            <a:r>
              <a:rPr lang="en-US" dirty="0"/>
              <a:t>Deployment:</a:t>
            </a:r>
          </a:p>
          <a:p>
            <a:pPr>
              <a:spcBef>
                <a:spcPct val="20000"/>
              </a:spcBef>
              <a:spcAft>
                <a:spcPts val="600"/>
              </a:spcAft>
            </a:pPr>
            <a:r>
              <a:rPr lang="en-US" dirty="0"/>
              <a:t>The dashboard is developed in Power BI Desktop and can be shared through Power BI Service.</a:t>
            </a:r>
            <a:endParaRPr lang="en-IN" dirty="0"/>
          </a:p>
        </p:txBody>
      </p:sp>
    </p:spTree>
    <p:extLst>
      <p:ext uri="{BB962C8B-B14F-4D97-AF65-F5344CB8AC3E}">
        <p14:creationId xmlns:p14="http://schemas.microsoft.com/office/powerpoint/2010/main" val="27333260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303020"/>
            <a:ext cx="10515600" cy="4251960"/>
          </a:xfrm>
        </p:spPr>
        <p:txBody>
          <a:bodyPr vert="horz" lIns="91440" tIns="45720" rIns="91440" bIns="45720" rtlCol="0">
            <a:noAutofit/>
          </a:bodyPr>
          <a:lstStyle/>
          <a:p>
            <a:pPr marL="0" indent="0">
              <a:buNone/>
            </a:pPr>
            <a:r>
              <a:rPr lang="en-US" sz="1800" dirty="0"/>
              <a:t>The developed Power BI E-Commerce Dashboard successfully transformed raw Amazon product data into meaningful visual insights.</a:t>
            </a:r>
          </a:p>
          <a:p>
            <a:pPr marL="0" indent="0">
              <a:buNone/>
            </a:pPr>
            <a:r>
              <a:rPr lang="en-US" sz="1800" dirty="0"/>
              <a:t>The dashboard displays key performance indicators such as:</a:t>
            </a:r>
          </a:p>
          <a:p>
            <a:pPr marL="0" indent="0">
              <a:buNone/>
            </a:pPr>
            <a:r>
              <a:rPr lang="en-US" sz="1800" dirty="0"/>
              <a:t>• Total number of products available</a:t>
            </a:r>
          </a:p>
          <a:p>
            <a:pPr marL="0" indent="0">
              <a:buNone/>
            </a:pPr>
            <a:r>
              <a:rPr lang="en-US" sz="1800" dirty="0"/>
              <a:t>• Average product rating</a:t>
            </a:r>
          </a:p>
          <a:p>
            <a:pPr marL="0" indent="0">
              <a:buNone/>
            </a:pPr>
            <a:r>
              <a:rPr lang="en-US" sz="1800" dirty="0"/>
              <a:t>• Total customer reviews</a:t>
            </a:r>
          </a:p>
          <a:p>
            <a:pPr marL="0" indent="0">
              <a:buNone/>
            </a:pPr>
            <a:r>
              <a:rPr lang="en-US" sz="1800" dirty="0"/>
              <a:t>• Average discount percentage offered on products</a:t>
            </a:r>
          </a:p>
          <a:p>
            <a:pPr marL="0" indent="0">
              <a:buNone/>
            </a:pPr>
            <a:r>
              <a:rPr lang="en-US" sz="1800" dirty="0"/>
              <a:t>The visualizations help analyze product performance across multiple categories. The "Products by Category" chart identifies which product categories contain the largest number of items. The "Top 10 Products by Reviews" chart highlights the most popular products based on customer engagement. The "Price Comparison" visualization compares actual prices and discounted prices, helping understand pricing strategies and discount impacts. The "Average Rating by Category" chart reveals how customer satisfaction varies across categories. Additionally, the scatter chart analyzing discount percentage versus rating provides insight into how discounts influence customer feedback and product popularity. Overall, the dashboard enables quick identification of trends, top-performing products, and pricing patterns, allowing businesses to make informed, data-driven decisions. Power BI dashboards help convert complex datasets into clear visual insights that support strategic planning and performance analysis.</a:t>
            </a:r>
          </a:p>
        </p:txBody>
      </p:sp>
    </p:spTree>
    <p:extLst>
      <p:ext uri="{BB962C8B-B14F-4D97-AF65-F5344CB8AC3E}">
        <p14:creationId xmlns:p14="http://schemas.microsoft.com/office/powerpoint/2010/main" val="58742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7E69D0-3F4E-C566-D6D2-248C2CD2D1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 y="582745"/>
            <a:ext cx="10835640" cy="6092578"/>
          </a:xfrm>
          <a:prstGeom prst="rect">
            <a:avLst/>
          </a:prstGeom>
        </p:spPr>
      </p:pic>
    </p:spTree>
    <p:extLst>
      <p:ext uri="{BB962C8B-B14F-4D97-AF65-F5344CB8AC3E}">
        <p14:creationId xmlns:p14="http://schemas.microsoft.com/office/powerpoint/2010/main" val="32146351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buNone/>
            </a:pPr>
            <a:r>
              <a:rPr lang="en-US" sz="1800" dirty="0"/>
              <a:t>The Power BI E-Commerce Dashboard successfully visualizes key metrics related to product performance, customer reviews, and pricing.</a:t>
            </a:r>
          </a:p>
          <a:p>
            <a:pPr marL="0" indent="0">
              <a:buNone/>
            </a:pPr>
            <a:endParaRPr lang="en-US" sz="1800" dirty="0"/>
          </a:p>
          <a:p>
            <a:pPr marL="0" indent="0">
              <a:buNone/>
            </a:pPr>
            <a:r>
              <a:rPr lang="en-US" sz="1800" dirty="0"/>
              <a:t>The dashboard provides an easy way to monitor product data and identify trends such as:</a:t>
            </a:r>
          </a:p>
          <a:p>
            <a:pPr marL="0" indent="0">
              <a:buNone/>
            </a:pPr>
            <a:r>
              <a:rPr lang="en-US" sz="1800" dirty="0"/>
              <a:t>• Categories with the most products</a:t>
            </a:r>
          </a:p>
          <a:p>
            <a:pPr marL="0" indent="0">
              <a:buNone/>
            </a:pPr>
            <a:r>
              <a:rPr lang="en-US" sz="1800" dirty="0"/>
              <a:t>• Products with the highest reviews</a:t>
            </a:r>
          </a:p>
          <a:p>
            <a:pPr marL="0" indent="0">
              <a:buNone/>
            </a:pPr>
            <a:r>
              <a:rPr lang="en-US" sz="1800" dirty="0"/>
              <a:t>• Impact of discounts on ratings</a:t>
            </a:r>
          </a:p>
          <a:p>
            <a:pPr marL="0" indent="0">
              <a:buNone/>
            </a:pPr>
            <a:endParaRPr lang="en-US" sz="1800" dirty="0"/>
          </a:p>
          <a:p>
            <a:pPr marL="0" indent="0">
              <a:buNone/>
            </a:pPr>
            <a:r>
              <a:rPr lang="en-US" sz="1800" dirty="0"/>
              <a:t>This solution improves decision-making by transforming raw data into meaningful insights.</a:t>
            </a: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spcBef>
                <a:spcPct val="20000"/>
              </a:spcBef>
              <a:spcAft>
                <a:spcPts val="600"/>
              </a:spcAft>
              <a:buNone/>
            </a:pPr>
            <a:endParaRPr lang="en-US" sz="2200" dirty="0">
              <a:latin typeface="Franklin Gothic Book"/>
            </a:endParaRPr>
          </a:p>
          <a:p>
            <a:pPr marL="0" indent="0">
              <a:spcBef>
                <a:spcPct val="20000"/>
              </a:spcBef>
              <a:spcAft>
                <a:spcPts val="600"/>
              </a:spcAft>
              <a:buNone/>
            </a:pPr>
            <a:r>
              <a:rPr lang="en-US" sz="2200" dirty="0">
                <a:latin typeface="Franklin Gothic Book"/>
              </a:rPr>
              <a:t>• Integration of real-time sales data</a:t>
            </a:r>
          </a:p>
          <a:p>
            <a:pPr marL="0" indent="0">
              <a:spcBef>
                <a:spcPct val="20000"/>
              </a:spcBef>
              <a:spcAft>
                <a:spcPts val="600"/>
              </a:spcAft>
              <a:buNone/>
            </a:pPr>
            <a:r>
              <a:rPr lang="en-US" sz="2200" dirty="0">
                <a:latin typeface="Franklin Gothic Book"/>
              </a:rPr>
              <a:t>• Adding predictive analytics for sales forecasting</a:t>
            </a:r>
          </a:p>
          <a:p>
            <a:pPr marL="0" indent="0">
              <a:spcBef>
                <a:spcPct val="20000"/>
              </a:spcBef>
              <a:spcAft>
                <a:spcPts val="600"/>
              </a:spcAft>
              <a:buNone/>
            </a:pPr>
            <a:r>
              <a:rPr lang="en-US" sz="2200" dirty="0">
                <a:latin typeface="Franklin Gothic Book"/>
              </a:rPr>
              <a:t>• Integration with multiple e-commerce platforms</a:t>
            </a:r>
          </a:p>
          <a:p>
            <a:pPr marL="0" indent="0">
              <a:spcBef>
                <a:spcPct val="20000"/>
              </a:spcBef>
              <a:spcAft>
                <a:spcPts val="600"/>
              </a:spcAft>
              <a:buNone/>
            </a:pPr>
            <a:r>
              <a:rPr lang="en-US" sz="2200" dirty="0">
                <a:latin typeface="Franklin Gothic Book"/>
              </a:rPr>
              <a:t>• Use of advanced machine learning models for demand prediction</a:t>
            </a:r>
          </a:p>
          <a:p>
            <a:pPr marL="0" indent="0">
              <a:spcBef>
                <a:spcPct val="20000"/>
              </a:spcBef>
              <a:spcAft>
                <a:spcPts val="600"/>
              </a:spcAft>
              <a:buNone/>
            </a:pPr>
            <a:r>
              <a:rPr lang="en-US" sz="2200" dirty="0">
                <a:latin typeface="Franklin Gothic Book"/>
              </a:rPr>
              <a:t>• Deployment as a live web dashboard for businesses</a:t>
            </a:r>
            <a:endParaRPr lang="en-GB" sz="2200" dirty="0"/>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Microsoft Power BI Documentation</a:t>
            </a:r>
          </a:p>
          <a:p>
            <a:pPr marL="0" indent="0">
              <a:buNone/>
            </a:pPr>
            <a:r>
              <a:rPr lang="en-IN" sz="2200" dirty="0">
                <a:latin typeface="Franklin Gothic Book"/>
              </a:rPr>
              <a:t>Power BI Dashboard Design Guidelines</a:t>
            </a:r>
          </a:p>
          <a:p>
            <a:pPr marL="0" indent="0">
              <a:buNone/>
            </a:pPr>
            <a:r>
              <a:rPr lang="en-IN" sz="2200" dirty="0">
                <a:latin typeface="Franklin Gothic Book"/>
              </a:rPr>
              <a:t>E-commerce Sales Analytics Resources</a:t>
            </a:r>
          </a:p>
          <a:p>
            <a:pPr marL="0" indent="0">
              <a:buNone/>
            </a:pPr>
            <a:r>
              <a:rPr lang="en-IN" sz="2200" dirty="0">
                <a:latin typeface="Franklin Gothic Book"/>
              </a:rPr>
              <a:t>GitHub:</a:t>
            </a: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740</Words>
  <Application>Microsoft Office PowerPoint</Application>
  <PresentationFormat>Widescreen</PresentationFormat>
  <Paragraphs>101</Paragraphs>
  <Slides>13</Slides>
  <Notes>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13</vt:i4>
      </vt:variant>
    </vt:vector>
  </HeadingPairs>
  <TitlesOfParts>
    <vt:vector size="20" baseType="lpstr">
      <vt:lpstr>Aptos</vt:lpstr>
      <vt:lpstr>Arial</vt:lpstr>
      <vt:lpstr>Arial Narrow</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PowerPoint Presentation</vt:lpstr>
      <vt:lpstr>Result:</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Divyanshi Singh</cp:lastModifiedBy>
  <cp:revision>101</cp:revision>
  <dcterms:created xsi:type="dcterms:W3CDTF">2024-05-21T11:55:07Z</dcterms:created>
  <dcterms:modified xsi:type="dcterms:W3CDTF">2026-03-15T11:22:16Z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